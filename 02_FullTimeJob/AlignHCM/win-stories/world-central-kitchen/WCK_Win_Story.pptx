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EF1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20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9AA6B5">
                <a:alpha val="45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274320" y="274320"/>
            <a:ext cx="11643055" cy="1005840"/>
          </a:xfrm>
          <a:prstGeom prst="roundRect">
            <a:avLst>
              <a:gd name="adj" fmla="val 12727"/>
            </a:avLst>
          </a:prstGeom>
          <a:solidFill>
            <a:srgbClr val="0F2138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402336"/>
            <a:ext cx="11643055" cy="877824"/>
          </a:xfrm>
          <a:prstGeom prst="rect">
            <a:avLst/>
          </a:prstGeom>
          <a:solidFill>
            <a:srgbClr val="0F2138"/>
          </a:solidFill>
          <a:ln/>
        </p:spPr>
      </p:sp>
      <p:pic>
        <p:nvPicPr>
          <p:cNvPr id="5" name="Image 0" descr="/home/user/dillon-os/02_FullTimeJob/AlignHCM/win-stories/world-central-kitchen/assets/wck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48056"/>
            <a:ext cx="1158728" cy="6583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999976" y="27432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Dayforce Full-Suite Implementation   |   Nonprofit   |   Global Humanitarian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10692079" y="402336"/>
            <a:ext cx="932688" cy="219456"/>
          </a:xfrm>
          <a:prstGeom prst="roundRect">
            <a:avLst>
              <a:gd name="adj" fmla="val 20833"/>
            </a:avLst>
          </a:prstGeom>
          <a:solidFill>
            <a:srgbClr val="E0652F"/>
          </a:solidFill>
          <a:ln/>
        </p:spPr>
      </p:sp>
      <p:sp>
        <p:nvSpPr>
          <p:cNvPr id="8" name="Text 5"/>
          <p:cNvSpPr/>
          <p:nvPr/>
        </p:nvSpPr>
        <p:spPr>
          <a:xfrm>
            <a:off x="10692079" y="402336"/>
            <a:ext cx="932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STORY</a:t>
            </a:r>
            <a:endParaRPr lang="en-US" sz="850" dirty="0"/>
          </a:p>
        </p:txBody>
      </p:sp>
      <p:pic>
        <p:nvPicPr>
          <p:cNvPr id="9" name="Image 1" descr="/home/user/dillon-os/02_FullTimeJob/AlignHCM/win-stories/world-central-kitchen/assets/align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3406" y="758952"/>
            <a:ext cx="986784" cy="420624"/>
          </a:xfrm>
          <a:prstGeom prst="rect">
            <a:avLst/>
          </a:prstGeom>
        </p:spPr>
      </p:pic>
      <p:pic>
        <p:nvPicPr>
          <p:cNvPr id="10" name="Image 2" descr="/home/user/dillon-os/02_FullTimeJob/AlignHCM/win-stories/world-central-kitchen/assets/dayforce_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2798" y="832138"/>
            <a:ext cx="1121969" cy="274253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274320" y="1280160"/>
            <a:ext cx="11643055" cy="530352"/>
          </a:xfrm>
          <a:prstGeom prst="rect">
            <a:avLst/>
          </a:prstGeom>
          <a:solidFill>
            <a:srgbClr val="EAEFF5"/>
          </a:solidFill>
          <a:ln/>
        </p:spPr>
      </p:sp>
      <p:sp>
        <p:nvSpPr>
          <p:cNvPr id="12" name="Text 7"/>
          <p:cNvSpPr/>
          <p:nvPr/>
        </p:nvSpPr>
        <p:spPr>
          <a:xfrm>
            <a:off x="274320" y="1353312"/>
            <a:ext cx="194050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20" kern="0" dirty="0">
                <a:solidFill>
                  <a:srgbClr val="6E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</a:t>
            </a:r>
            <a:endParaRPr lang="en-US" sz="800" dirty="0"/>
          </a:p>
        </p:txBody>
      </p:sp>
      <p:sp>
        <p:nvSpPr>
          <p:cNvPr id="13" name="Text 8"/>
          <p:cNvSpPr/>
          <p:nvPr/>
        </p:nvSpPr>
        <p:spPr>
          <a:xfrm>
            <a:off x="274320" y="1536192"/>
            <a:ext cx="194050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350 FTE + 2K Surge</a:t>
            </a:r>
            <a:endParaRPr lang="en-US" sz="1150" dirty="0"/>
          </a:p>
        </p:txBody>
      </p:sp>
      <p:sp>
        <p:nvSpPr>
          <p:cNvPr id="14" name="Shape 9"/>
          <p:cNvSpPr/>
          <p:nvPr/>
        </p:nvSpPr>
        <p:spPr>
          <a:xfrm>
            <a:off x="2214829" y="1399032"/>
            <a:ext cx="0" cy="292608"/>
          </a:xfrm>
          <a:prstGeom prst="line">
            <a:avLst/>
          </a:prstGeom>
          <a:noFill/>
          <a:ln w="9525">
            <a:solidFill>
              <a:srgbClr val="D5DDE7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2214829" y="1353312"/>
            <a:ext cx="194050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20" kern="0" dirty="0">
                <a:solidFill>
                  <a:srgbClr val="6E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</a:t>
            </a:r>
            <a:endParaRPr lang="en-US" sz="800" dirty="0"/>
          </a:p>
        </p:txBody>
      </p:sp>
      <p:sp>
        <p:nvSpPr>
          <p:cNvPr id="16" name="Text 11"/>
          <p:cNvSpPr/>
          <p:nvPr/>
        </p:nvSpPr>
        <p:spPr>
          <a:xfrm>
            <a:off x="2214829" y="1536192"/>
            <a:ext cx="194050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Nonprofit / Humanitarian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4155338" y="1399032"/>
            <a:ext cx="0" cy="292608"/>
          </a:xfrm>
          <a:prstGeom prst="line">
            <a:avLst/>
          </a:prstGeom>
          <a:noFill/>
          <a:ln w="9525">
            <a:solidFill>
              <a:srgbClr val="D5DDE7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4155338" y="1353312"/>
            <a:ext cx="194050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20" kern="0" dirty="0">
                <a:solidFill>
                  <a:srgbClr val="6E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</a:t>
            </a:r>
            <a:endParaRPr lang="en-US" sz="800" dirty="0"/>
          </a:p>
        </p:txBody>
      </p:sp>
      <p:sp>
        <p:nvSpPr>
          <p:cNvPr id="19" name="Text 14"/>
          <p:cNvSpPr/>
          <p:nvPr/>
        </p:nvSpPr>
        <p:spPr>
          <a:xfrm>
            <a:off x="4155338" y="1536192"/>
            <a:ext cx="194050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Nations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6095848" y="1399032"/>
            <a:ext cx="0" cy="292608"/>
          </a:xfrm>
          <a:prstGeom prst="line">
            <a:avLst/>
          </a:prstGeom>
          <a:noFill/>
          <a:ln w="9525">
            <a:solidFill>
              <a:srgbClr val="D5DDE7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6095848" y="1353312"/>
            <a:ext cx="194050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20" kern="0" dirty="0">
                <a:solidFill>
                  <a:srgbClr val="6E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</a:t>
            </a:r>
            <a:endParaRPr lang="en-US" sz="800" dirty="0"/>
          </a:p>
        </p:txBody>
      </p:sp>
      <p:sp>
        <p:nvSpPr>
          <p:cNvPr id="22" name="Text 17"/>
          <p:cNvSpPr/>
          <p:nvPr/>
        </p:nvSpPr>
        <p:spPr>
          <a:xfrm>
            <a:off x="6095848" y="1536192"/>
            <a:ext cx="194050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Lavasource &amp; PwC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8036357" y="1399032"/>
            <a:ext cx="0" cy="292608"/>
          </a:xfrm>
          <a:prstGeom prst="line">
            <a:avLst/>
          </a:prstGeom>
          <a:noFill/>
          <a:ln w="9525">
            <a:solidFill>
              <a:srgbClr val="D5DDE7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8036357" y="1353312"/>
            <a:ext cx="194050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20" kern="0" dirty="0">
                <a:solidFill>
                  <a:srgbClr val="6E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REPLACING</a:t>
            </a:r>
            <a:endParaRPr lang="en-US" sz="800" dirty="0"/>
          </a:p>
        </p:txBody>
      </p:sp>
      <p:sp>
        <p:nvSpPr>
          <p:cNvPr id="25" name="Text 20"/>
          <p:cNvSpPr/>
          <p:nvPr/>
        </p:nvSpPr>
        <p:spPr>
          <a:xfrm>
            <a:off x="8036357" y="1536192"/>
            <a:ext cx="194050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BambooHR + Airtable</a:t>
            </a:r>
            <a:endParaRPr lang="en-US" sz="1150" dirty="0"/>
          </a:p>
        </p:txBody>
      </p:sp>
      <p:sp>
        <p:nvSpPr>
          <p:cNvPr id="26" name="Shape 21"/>
          <p:cNvSpPr/>
          <p:nvPr/>
        </p:nvSpPr>
        <p:spPr>
          <a:xfrm>
            <a:off x="9976866" y="1399032"/>
            <a:ext cx="0" cy="292608"/>
          </a:xfrm>
          <a:prstGeom prst="line">
            <a:avLst/>
          </a:prstGeom>
          <a:noFill/>
          <a:ln w="9525">
            <a:solidFill>
              <a:srgbClr val="D5DDE7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9976866" y="1353312"/>
            <a:ext cx="194050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20" kern="0" dirty="0">
                <a:solidFill>
                  <a:srgbClr val="6E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VALUE</a:t>
            </a:r>
            <a:endParaRPr lang="en-US" sz="800" dirty="0"/>
          </a:p>
        </p:txBody>
      </p:sp>
      <p:sp>
        <p:nvSpPr>
          <p:cNvPr id="28" name="Text 23"/>
          <p:cNvSpPr/>
          <p:nvPr/>
        </p:nvSpPr>
        <p:spPr>
          <a:xfrm>
            <a:off x="9976866" y="1536192"/>
            <a:ext cx="194050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$424,375</a:t>
            </a:r>
            <a:endParaRPr lang="en-US" sz="1150" dirty="0"/>
          </a:p>
        </p:txBody>
      </p:sp>
      <p:sp>
        <p:nvSpPr>
          <p:cNvPr id="29" name="Shape 24"/>
          <p:cNvSpPr/>
          <p:nvPr/>
        </p:nvSpPr>
        <p:spPr>
          <a:xfrm>
            <a:off x="566928" y="1956816"/>
            <a:ext cx="3539642" cy="512064"/>
          </a:xfrm>
          <a:prstGeom prst="roundRect">
            <a:avLst>
              <a:gd name="adj" fmla="val 10714"/>
            </a:avLst>
          </a:prstGeom>
          <a:solidFill>
            <a:srgbClr val="1E3A5F"/>
          </a:solidFill>
          <a:ln/>
        </p:spPr>
      </p:sp>
      <p:sp>
        <p:nvSpPr>
          <p:cNvPr id="30" name="Text 25"/>
          <p:cNvSpPr/>
          <p:nvPr/>
        </p:nvSpPr>
        <p:spPr>
          <a:xfrm>
            <a:off x="566928" y="2002536"/>
            <a:ext cx="35396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CHALLENGES</a:t>
            </a:r>
            <a:endParaRPr lang="en-US" sz="1150" dirty="0"/>
          </a:p>
        </p:txBody>
      </p:sp>
      <p:sp>
        <p:nvSpPr>
          <p:cNvPr id="31" name="Text 26"/>
          <p:cNvSpPr/>
          <p:nvPr/>
        </p:nvSpPr>
        <p:spPr>
          <a:xfrm>
            <a:off x="566928" y="2240280"/>
            <a:ext cx="353964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WCK Needed a New Platform</a:t>
            </a:r>
            <a:endParaRPr lang="en-US" sz="850" dirty="0"/>
          </a:p>
        </p:txBody>
      </p:sp>
      <p:sp>
        <p:nvSpPr>
          <p:cNvPr id="32" name="Shape 27"/>
          <p:cNvSpPr/>
          <p:nvPr/>
        </p:nvSpPr>
        <p:spPr>
          <a:xfrm>
            <a:off x="566928" y="2578608"/>
            <a:ext cx="3539642" cy="1219200"/>
          </a:xfrm>
          <a:prstGeom prst="roundRect">
            <a:avLst>
              <a:gd name="adj" fmla="val 4125"/>
            </a:avLst>
          </a:prstGeom>
          <a:solidFill>
            <a:srgbClr val="EDF3FB"/>
          </a:solidFill>
          <a:ln w="12700">
            <a:solidFill>
              <a:srgbClr val="2E4C7E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694944" y="2670048"/>
            <a:ext cx="3283610" cy="1045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E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Systems, No Single Source of Truth</a:t>
            </a:r>
            <a:endParaRPr lang="en-US" sz="105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3A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WCK operated across BambooHR, Airtable, Gmail-based approvals, and A3innuva with no unified HR platform -- creating data gaps, manual errors, and compliance exposure across 24 countries and multiple entity structures.</a:t>
            </a:r>
            <a:endParaRPr lang="en-US" sz="1050" dirty="0"/>
          </a:p>
        </p:txBody>
      </p:sp>
      <p:sp>
        <p:nvSpPr>
          <p:cNvPr id="34" name="Shape 29"/>
          <p:cNvSpPr/>
          <p:nvPr/>
        </p:nvSpPr>
        <p:spPr>
          <a:xfrm>
            <a:off x="566928" y="3898392"/>
            <a:ext cx="3539642" cy="1219200"/>
          </a:xfrm>
          <a:prstGeom prst="roundRect">
            <a:avLst>
              <a:gd name="adj" fmla="val 4125"/>
            </a:avLst>
          </a:prstGeom>
          <a:solidFill>
            <a:srgbClr val="EDF3FB"/>
          </a:solidFill>
          <a:ln w="12700">
            <a:solidFill>
              <a:srgbClr val="2E4C7E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694944" y="3989832"/>
            <a:ext cx="3283610" cy="1045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E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 Workforce Complexity at Global Scale</a:t>
            </a:r>
            <a:endParaRPr lang="en-US" sz="105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3A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800-2,000 relief contractors mobilized on short notice across 18+ nations. Field offices in Jordan, Ukraine, Egypt, and Israel each operated independently with no scalable onboarding infrastructure or centralized visibility.</a:t>
            </a:r>
            <a:endParaRPr lang="en-US" sz="1050" dirty="0"/>
          </a:p>
        </p:txBody>
      </p:sp>
      <p:sp>
        <p:nvSpPr>
          <p:cNvPr id="36" name="Shape 31"/>
          <p:cNvSpPr/>
          <p:nvPr/>
        </p:nvSpPr>
        <p:spPr>
          <a:xfrm>
            <a:off x="566928" y="5218176"/>
            <a:ext cx="3539642" cy="1219200"/>
          </a:xfrm>
          <a:prstGeom prst="roundRect">
            <a:avLst>
              <a:gd name="adj" fmla="val 4125"/>
            </a:avLst>
          </a:prstGeom>
          <a:solidFill>
            <a:srgbClr val="EDF3FB"/>
          </a:solidFill>
          <a:ln w="12700">
            <a:solidFill>
              <a:srgbClr val="2E4C7E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694944" y="5309616"/>
            <a:ext cx="3283610" cy="1045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E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Aggressive Jan 1 Go-Live with Day 1 Finance Integration</a:t>
            </a:r>
            <a:endParaRPr lang="en-US" sz="105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3A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hard January 1 go-live date required simultaneous Sage Intacct integration from day one -- leaving zero runway for a phased finance cutover. Bilingual (EN/ES) delivery was also required from the start.</a:t>
            </a:r>
            <a:endParaRPr lang="en-US" sz="1050" dirty="0"/>
          </a:p>
        </p:txBody>
      </p:sp>
      <p:sp>
        <p:nvSpPr>
          <p:cNvPr id="38" name="Shape 33"/>
          <p:cNvSpPr/>
          <p:nvPr/>
        </p:nvSpPr>
        <p:spPr>
          <a:xfrm>
            <a:off x="4326026" y="1956816"/>
            <a:ext cx="3539642" cy="512064"/>
          </a:xfrm>
          <a:prstGeom prst="roundRect">
            <a:avLst>
              <a:gd name="adj" fmla="val 10714"/>
            </a:avLst>
          </a:prstGeom>
          <a:solidFill>
            <a:srgbClr val="E0652F"/>
          </a:solidFill>
          <a:ln/>
        </p:spPr>
      </p:sp>
      <p:sp>
        <p:nvSpPr>
          <p:cNvPr id="39" name="Text 34"/>
          <p:cNvSpPr/>
          <p:nvPr/>
        </p:nvSpPr>
        <p:spPr>
          <a:xfrm>
            <a:off x="4326026" y="2002536"/>
            <a:ext cx="35396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ALIGN HCM + DAYFORCE?</a:t>
            </a:r>
            <a:endParaRPr lang="en-US" sz="1150" dirty="0"/>
          </a:p>
        </p:txBody>
      </p:sp>
      <p:sp>
        <p:nvSpPr>
          <p:cNvPr id="40" name="Text 35"/>
          <p:cNvSpPr/>
          <p:nvPr/>
        </p:nvSpPr>
        <p:spPr>
          <a:xfrm>
            <a:off x="4326026" y="2240280"/>
            <a:ext cx="353964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Differentiated the Pursuit</a:t>
            </a:r>
            <a:endParaRPr lang="en-US" sz="850" dirty="0"/>
          </a:p>
        </p:txBody>
      </p:sp>
      <p:sp>
        <p:nvSpPr>
          <p:cNvPr id="41" name="Shape 36"/>
          <p:cNvSpPr/>
          <p:nvPr/>
        </p:nvSpPr>
        <p:spPr>
          <a:xfrm>
            <a:off x="4326026" y="2578608"/>
            <a:ext cx="3539642" cy="1219200"/>
          </a:xfrm>
          <a:prstGeom prst="roundRect">
            <a:avLst>
              <a:gd name="adj" fmla="val 4125"/>
            </a:avLst>
          </a:prstGeom>
          <a:solidFill>
            <a:srgbClr val="FDF2EA"/>
          </a:solidFill>
          <a:ln w="12700">
            <a:solidFill>
              <a:srgbClr val="E2682F"/>
            </a:solidFill>
            <a:prstDash val="solid"/>
          </a:ln>
        </p:spPr>
      </p:sp>
      <p:sp>
        <p:nvSpPr>
          <p:cNvPr id="42" name="Text 37"/>
          <p:cNvSpPr/>
          <p:nvPr/>
        </p:nvSpPr>
        <p:spPr>
          <a:xfrm>
            <a:off x="4454042" y="2670048"/>
            <a:ext cx="3283610" cy="1045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C85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Purpose-Built RC Surge Onboarding Model</a:t>
            </a:r>
            <a:endParaRPr lang="en-US" sz="105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3A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designed a scalable Relief Contractor onboarding workflow built for humanitarian surge operations -- bilingual, field-deployable, and configured for multi-country compliance from day one. No other bidder offered this.</a:t>
            </a:r>
            <a:endParaRPr lang="en-US" sz="1050" dirty="0"/>
          </a:p>
        </p:txBody>
      </p:sp>
      <p:sp>
        <p:nvSpPr>
          <p:cNvPr id="43" name="Shape 38"/>
          <p:cNvSpPr/>
          <p:nvPr/>
        </p:nvSpPr>
        <p:spPr>
          <a:xfrm>
            <a:off x="4326026" y="3898392"/>
            <a:ext cx="3539642" cy="1219200"/>
          </a:xfrm>
          <a:prstGeom prst="roundRect">
            <a:avLst>
              <a:gd name="adj" fmla="val 4125"/>
            </a:avLst>
          </a:prstGeom>
          <a:solidFill>
            <a:srgbClr val="FDF2EA"/>
          </a:solidFill>
          <a:ln w="12700">
            <a:solidFill>
              <a:srgbClr val="E2682F"/>
            </a:solidFill>
            <a:prstDash val="solid"/>
          </a:ln>
        </p:spPr>
      </p:sp>
      <p:sp>
        <p:nvSpPr>
          <p:cNvPr id="44" name="Text 39"/>
          <p:cNvSpPr/>
          <p:nvPr/>
        </p:nvSpPr>
        <p:spPr>
          <a:xfrm>
            <a:off x="4454042" y="3989832"/>
            <a:ext cx="3283610" cy="1045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C85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Alignment + Give-Back Commitment</a:t>
            </a:r>
            <a:endParaRPr lang="en-US" sz="105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3A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"Align HCM has clearly done its homework on WCK's complexity... The RC surge onboarding model, bilingual delivery, Sage Intacct Day 1 integration, and the mission give-back commitment all stood out." -- Adam Reusing, WCK</a:t>
            </a:r>
            <a:endParaRPr lang="en-US" sz="1050" dirty="0"/>
          </a:p>
        </p:txBody>
      </p:sp>
      <p:sp>
        <p:nvSpPr>
          <p:cNvPr id="45" name="Shape 40"/>
          <p:cNvSpPr/>
          <p:nvPr/>
        </p:nvSpPr>
        <p:spPr>
          <a:xfrm>
            <a:off x="4326026" y="5218176"/>
            <a:ext cx="3539642" cy="1219200"/>
          </a:xfrm>
          <a:prstGeom prst="roundRect">
            <a:avLst>
              <a:gd name="adj" fmla="val 4125"/>
            </a:avLst>
          </a:prstGeom>
          <a:solidFill>
            <a:srgbClr val="FDF2EA"/>
          </a:solidFill>
          <a:ln w="12700">
            <a:solidFill>
              <a:srgbClr val="E2682F"/>
            </a:solidFill>
            <a:prstDash val="solid"/>
          </a:ln>
        </p:spPr>
      </p:sp>
      <p:sp>
        <p:nvSpPr>
          <p:cNvPr id="46" name="Text 41"/>
          <p:cNvSpPr/>
          <p:nvPr/>
        </p:nvSpPr>
        <p:spPr>
          <a:xfrm>
            <a:off x="4454042" y="5309616"/>
            <a:ext cx="3283610" cy="1045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C85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Sage Intacct Day 1 Integration Expertise</a:t>
            </a:r>
            <a:endParaRPr lang="en-US" sz="105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3A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Align's proven Sage Intacct integration capability directly resolved WCK's highest-risk requirement. Paired with bilingual delivery, Align was the only vendor that could credibly commit to the full scope on the Jan 1 timeline.</a:t>
            </a:r>
            <a:endParaRPr lang="en-US" sz="1050" dirty="0"/>
          </a:p>
        </p:txBody>
      </p:sp>
      <p:sp>
        <p:nvSpPr>
          <p:cNvPr id="47" name="Shape 42"/>
          <p:cNvSpPr/>
          <p:nvPr/>
        </p:nvSpPr>
        <p:spPr>
          <a:xfrm>
            <a:off x="8085125" y="1956816"/>
            <a:ext cx="3539642" cy="512064"/>
          </a:xfrm>
          <a:prstGeom prst="roundRect">
            <a:avLst>
              <a:gd name="adj" fmla="val 10714"/>
            </a:avLst>
          </a:prstGeom>
          <a:solidFill>
            <a:srgbClr val="1F7A48"/>
          </a:solidFill>
          <a:ln/>
        </p:spPr>
      </p:sp>
      <p:sp>
        <p:nvSpPr>
          <p:cNvPr id="48" name="Text 43"/>
          <p:cNvSpPr/>
          <p:nvPr/>
        </p:nvSpPr>
        <p:spPr>
          <a:xfrm>
            <a:off x="8085125" y="2002536"/>
            <a:ext cx="35396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CYCLE IMPACT</a:t>
            </a:r>
            <a:endParaRPr lang="en-US" sz="1150" dirty="0"/>
          </a:p>
        </p:txBody>
      </p:sp>
      <p:sp>
        <p:nvSpPr>
          <p:cNvPr id="49" name="Text 44"/>
          <p:cNvSpPr/>
          <p:nvPr/>
        </p:nvSpPr>
        <p:spPr>
          <a:xfrm>
            <a:off x="8085125" y="2240280"/>
            <a:ext cx="353964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Align HCM Won the Room</a:t>
            </a:r>
            <a:endParaRPr lang="en-US" sz="850" dirty="0"/>
          </a:p>
        </p:txBody>
      </p:sp>
      <p:sp>
        <p:nvSpPr>
          <p:cNvPr id="50" name="Shape 45"/>
          <p:cNvSpPr/>
          <p:nvPr/>
        </p:nvSpPr>
        <p:spPr>
          <a:xfrm>
            <a:off x="8085125" y="2578608"/>
            <a:ext cx="3539642" cy="1219200"/>
          </a:xfrm>
          <a:prstGeom prst="roundRect">
            <a:avLst>
              <a:gd name="adj" fmla="val 4125"/>
            </a:avLst>
          </a:prstGeom>
          <a:solidFill>
            <a:srgbClr val="EAF4EE"/>
          </a:solidFill>
          <a:ln w="12700">
            <a:solidFill>
              <a:srgbClr val="2A7C50"/>
            </a:solidFill>
            <a:prstDash val="solid"/>
          </a:ln>
        </p:spPr>
      </p:sp>
      <p:sp>
        <p:nvSpPr>
          <p:cNvPr id="51" name="Text 46"/>
          <p:cNvSpPr/>
          <p:nvPr/>
        </p:nvSpPr>
        <p:spPr>
          <a:xfrm>
            <a:off x="8213141" y="2670048"/>
            <a:ext cx="3283610" cy="1045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B73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 PwC (Big 4) and Lavasource</a:t>
            </a:r>
            <a:endParaRPr lang="en-US" sz="105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3A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competed head-to-head against a Big 4 consulting firm and a specialized HCM implementation partner. WCK selected Align HCM based on operational depth, mission alignment, and superior proposal specificity.</a:t>
            </a:r>
            <a:endParaRPr lang="en-US" sz="1050" dirty="0"/>
          </a:p>
        </p:txBody>
      </p:sp>
      <p:sp>
        <p:nvSpPr>
          <p:cNvPr id="52" name="Shape 47"/>
          <p:cNvSpPr/>
          <p:nvPr/>
        </p:nvSpPr>
        <p:spPr>
          <a:xfrm>
            <a:off x="8085125" y="3898392"/>
            <a:ext cx="3539642" cy="1219200"/>
          </a:xfrm>
          <a:prstGeom prst="roundRect">
            <a:avLst>
              <a:gd name="adj" fmla="val 4125"/>
            </a:avLst>
          </a:prstGeom>
          <a:solidFill>
            <a:srgbClr val="EAF4EE"/>
          </a:solidFill>
          <a:ln w="12700">
            <a:solidFill>
              <a:srgbClr val="2A7C50"/>
            </a:solidFill>
            <a:prstDash val="solid"/>
          </a:ln>
        </p:spPr>
      </p:sp>
      <p:sp>
        <p:nvSpPr>
          <p:cNvPr id="53" name="Text 48"/>
          <p:cNvSpPr/>
          <p:nvPr/>
        </p:nvSpPr>
        <p:spPr>
          <a:xfrm>
            <a:off x="8213141" y="3989832"/>
            <a:ext cx="3283610" cy="1045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B73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8+ Co-Authoring Sessions Built Unmatched Trust</a:t>
            </a:r>
            <a:endParaRPr lang="en-US" sz="105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3A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and WCK co-developed a detailed Implementation Solutions Design and Statement of Work across 8+ working sessions. WCK had line-by-line ownership of scope, timeline, and deliverables -- a depth of collaboration no competitor came close to replicating.</a:t>
            </a:r>
            <a:endParaRPr lang="en-US" sz="1050" dirty="0"/>
          </a:p>
        </p:txBody>
      </p:sp>
      <p:sp>
        <p:nvSpPr>
          <p:cNvPr id="54" name="Shape 49"/>
          <p:cNvSpPr/>
          <p:nvPr/>
        </p:nvSpPr>
        <p:spPr>
          <a:xfrm>
            <a:off x="8085125" y="5218176"/>
            <a:ext cx="3539642" cy="1219200"/>
          </a:xfrm>
          <a:prstGeom prst="roundRect">
            <a:avLst>
              <a:gd name="adj" fmla="val 4125"/>
            </a:avLst>
          </a:prstGeom>
          <a:solidFill>
            <a:srgbClr val="EAF4EE"/>
          </a:solidFill>
          <a:ln w="12700">
            <a:solidFill>
              <a:srgbClr val="2A7C50"/>
            </a:solidFill>
            <a:prstDash val="solid"/>
          </a:ln>
        </p:spPr>
      </p:sp>
      <p:sp>
        <p:nvSpPr>
          <p:cNvPr id="55" name="Text 50"/>
          <p:cNvSpPr/>
          <p:nvPr/>
        </p:nvSpPr>
        <p:spPr>
          <a:xfrm>
            <a:off x="8213141" y="5309616"/>
            <a:ext cx="3283610" cy="1045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B73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Contracting &amp; Pricing Flexibility Closed the Deal</a:t>
            </a:r>
            <a:endParaRPr lang="en-US" sz="105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3A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demonstrated flexibility on both commercial terms and rate structure Willingness to adapt without compromising delivery quality sealed the partnership.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2026-07-24T14:33:54Z</dcterms:created>
  <dcterms:modified xsi:type="dcterms:W3CDTF">2026-07-24T14:33:54Z</dcterms:modified>
</cp:coreProperties>
</file>