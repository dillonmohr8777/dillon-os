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6B5">
                <a:alpha val="4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11643055" cy="1005840"/>
          </a:xfrm>
          <a:prstGeom prst="roundRect">
            <a:avLst>
              <a:gd name="adj" fmla="val 12727"/>
            </a:avLst>
          </a:prstGeom>
          <a:solidFill>
            <a:srgbClr val="0F213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402336"/>
            <a:ext cx="11643055" cy="877824"/>
          </a:xfrm>
          <a:prstGeom prst="rect">
            <a:avLst/>
          </a:prstGeom>
          <a:solidFill>
            <a:srgbClr val="0F2138"/>
          </a:solidFill>
          <a:ln/>
        </p:spPr>
      </p:sp>
      <p:pic>
        <p:nvPicPr>
          <p:cNvPr id="5" name="Image 0" descr="/home/user/dillon-os/02_FullTimeJob/AlignHCM/win-stories/world-central-kitchen/assets/wc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48056"/>
            <a:ext cx="115872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99976" y="274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Dayforce Full-Suite Implementation   |   Nonprofit   |   Global Humanitarian</a:t>
            </a:r>
            <a:endParaRPr lang="en-US" sz="1050" dirty="0"/>
          </a:p>
        </p:txBody>
      </p:sp>
      <p:pic>
        <p:nvPicPr>
          <p:cNvPr id="7" name="Image 1" descr="/home/user/dillon-os/02_FullTimeJob/AlignHCM/win-stories/world-central-kitchen/assets/align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3406" y="704088"/>
            <a:ext cx="986784" cy="420624"/>
          </a:xfrm>
          <a:prstGeom prst="rect">
            <a:avLst/>
          </a:prstGeom>
        </p:spPr>
      </p:pic>
      <p:pic>
        <p:nvPicPr>
          <p:cNvPr id="8" name="Image 2" descr="/home/user/dillon-os/02_FullTimeJob/AlignHCM/win-stories/world-central-kitchen/assets/dayfor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2798" y="777274"/>
            <a:ext cx="1121969" cy="27425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957743" y="384048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E0652F"/>
          </a:solidFill>
          <a:ln/>
        </p:spPr>
      </p:sp>
      <p:sp>
        <p:nvSpPr>
          <p:cNvPr id="10" name="Text 5"/>
          <p:cNvSpPr/>
          <p:nvPr/>
        </p:nvSpPr>
        <p:spPr>
          <a:xfrm>
            <a:off x="9957743" y="384048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STORY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274320" y="1280160"/>
            <a:ext cx="11643055" cy="530352"/>
          </a:xfrm>
          <a:prstGeom prst="rect">
            <a:avLst/>
          </a:prstGeom>
          <a:solidFill>
            <a:srgbClr val="EAEFF5"/>
          </a:solidFill>
          <a:ln/>
        </p:spPr>
      </p:sp>
      <p:sp>
        <p:nvSpPr>
          <p:cNvPr id="12" name="Text 7"/>
          <p:cNvSpPr/>
          <p:nvPr/>
        </p:nvSpPr>
        <p:spPr>
          <a:xfrm>
            <a:off x="274320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274320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FTE + 2K Surge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2214829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14829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214829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/ Humanitarian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5533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15533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415533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Nations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09584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09584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09584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Lavasource &amp; PwC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036357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36357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8036357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BambooHR + Airtable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9976866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976866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VALUE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9976866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$424,375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566928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E3A5F"/>
          </a:solidFill>
          <a:ln/>
        </p:spPr>
      </p:sp>
      <p:sp>
        <p:nvSpPr>
          <p:cNvPr id="30" name="Text 25"/>
          <p:cNvSpPr/>
          <p:nvPr/>
        </p:nvSpPr>
        <p:spPr>
          <a:xfrm>
            <a:off x="566928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CHALLENGES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566928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WCK Needed a New Platform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566928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4944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Systems, No Single Source of Truth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WCK operated across BambooHR, Airtable, Gmail-based approvals, and A3innuva with no unified HR platform -- creating data gaps, manual errors, and compliance exposure across 24 countries and multiple entity structures.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6928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94944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Workforce Complexity at Global Scale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800-2,000 relief contractors mobilized on short notice across 18+ nations. Field offices in Jordan, Ukraine, Egypt, and Israel each operated independently with no scalable onboarding infrastructure or centralized visibility.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566928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94944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Jan 1 Go-Live with Day 1 Finance Integration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January 1 go-live date required simultaneous Sage Intacct integration from day one -- leaving zero runway for a phased finance cutover. Bilingual (EN/ES) delivery was also required from the start.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4326026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E0652F"/>
          </a:solidFill>
          <a:ln/>
        </p:spPr>
      </p:sp>
      <p:sp>
        <p:nvSpPr>
          <p:cNvPr id="39" name="Text 34"/>
          <p:cNvSpPr/>
          <p:nvPr/>
        </p:nvSpPr>
        <p:spPr>
          <a:xfrm>
            <a:off x="4326026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ALIGN HCM + DAYFORCE?</a:t>
            </a:r>
            <a:endParaRPr lang="en-US" sz="1150" dirty="0"/>
          </a:p>
        </p:txBody>
      </p:sp>
      <p:sp>
        <p:nvSpPr>
          <p:cNvPr id="40" name="Text 35"/>
          <p:cNvSpPr/>
          <p:nvPr/>
        </p:nvSpPr>
        <p:spPr>
          <a:xfrm>
            <a:off x="4326026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Differentiated the Pursuit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4326026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454042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RC Surge Onboarding Model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designed a scalable Relief Contractor onboarding workflow built for humanitarian surge operations -- bilingual, field-deployable, and configured for multi-country compliance from day one. No other bidder offered this.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4326026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454042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Alignment + Give-Back Commitment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"Align HCM has clearly done its homework on WCK's complexity... The RC surge onboarding model, bilingual delivery, Sage Intacct Day 1 integration, and the mission give-back commitment all stood out." -- Adam Reusing, WCK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4326026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454042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 Day 1 Integration Expertise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Align's proven Sage Intacct integration capability directly resolved WCK's highest-risk requirement. Paired with bilingual delivery, Align was the only vendor that could credibly commit to the full scope on the Jan 1 timeline.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8085125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F7A48"/>
          </a:solidFill>
          <a:ln/>
        </p:spPr>
      </p:sp>
      <p:sp>
        <p:nvSpPr>
          <p:cNvPr id="48" name="Text 43"/>
          <p:cNvSpPr/>
          <p:nvPr/>
        </p:nvSpPr>
        <p:spPr>
          <a:xfrm>
            <a:off x="8085125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 IMPACT</a:t>
            </a:r>
            <a:endParaRPr lang="en-US" sz="1150" dirty="0"/>
          </a:p>
        </p:txBody>
      </p:sp>
      <p:sp>
        <p:nvSpPr>
          <p:cNvPr id="49" name="Text 44"/>
          <p:cNvSpPr/>
          <p:nvPr/>
        </p:nvSpPr>
        <p:spPr>
          <a:xfrm>
            <a:off x="8085125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Align HCM Won the Room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8085125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13141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PwC (Big 4) and Lavasource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competed head-to-head against a Big 4 consulting firm and a specialized HCM implementation partner. WCK selected Align HCM based on operational depth, mission alignment, and superior proposal specificity.</a:t>
            </a:r>
            <a:endParaRPr lang="en-US" sz="1050" dirty="0"/>
          </a:p>
        </p:txBody>
      </p:sp>
      <p:sp>
        <p:nvSpPr>
          <p:cNvPr id="52" name="Shape 47"/>
          <p:cNvSpPr/>
          <p:nvPr/>
        </p:nvSpPr>
        <p:spPr>
          <a:xfrm>
            <a:off x="8085125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8213141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Co-Authoring Sessions Built Unmatched Trust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and WCK co-developed a detailed Implementation Solutions Design and Statement of Work across 8+ working sessions. WCK had line-by-line ownership of scope, timeline, and deliverables -- a depth of collaboration no competitor came close to replicating.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8085125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13141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&amp; Pricing Flexibility Closed the Deal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demonstrated flexibility on both commercial terms and rate structure Willingness to adapt without compromising delivery quality sealed the partnership.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2026-07-24T14:16:44Z</dcterms:created>
  <dcterms:modified xsi:type="dcterms:W3CDTF">2026-07-24T14:16:44Z</dcterms:modified>
</cp:coreProperties>
</file>